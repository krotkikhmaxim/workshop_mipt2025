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9" r:id="rId5"/>
    <p:sldId id="260" r:id="rId6"/>
    <p:sldId id="267" r:id="rId7"/>
    <p:sldId id="268" r:id="rId8"/>
    <p:sldId id="266" r:id="rId9"/>
    <p:sldId id="270" r:id="rId10"/>
    <p:sldId id="265" r:id="rId11"/>
  </p:sldIdLst>
  <p:sldSz cx="8999538" cy="5040313"/>
  <p:notesSz cx="6858000" cy="9144000"/>
  <p:embeddedFontLst>
    <p:embeddedFont>
      <p:font typeface="Montserrat" panose="00000500000000000000" pitchFamily="2" charset="-52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9">
          <p15:clr>
            <a:srgbClr val="747775"/>
          </p15:clr>
        </p15:guide>
        <p15:guide id="2" orient="horz" pos="3028">
          <p15:clr>
            <a:srgbClr val="747775"/>
          </p15:clr>
        </p15:guide>
        <p15:guide id="3" orient="horz" pos="534">
          <p15:clr>
            <a:srgbClr val="747775"/>
          </p15:clr>
        </p15:guide>
        <p15:guide id="4" orient="horz" pos="843">
          <p15:clr>
            <a:srgbClr val="747775"/>
          </p15:clr>
        </p15:guide>
        <p15:guide id="5" orient="horz" pos="28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olwsOvHVWzx2DO4GooPe/aFWZ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34" y="298"/>
      </p:cViewPr>
      <p:guideLst>
        <p:guide pos="289"/>
        <p:guide orient="horz" pos="3028"/>
        <p:guide orient="horz" pos="534"/>
        <p:guide orient="horz" pos="843"/>
        <p:guide orient="horz" pos="2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67712" y="685800"/>
            <a:ext cx="612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43C9BEA0-7573-7023-0D8D-48CA472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>
            <a:extLst>
              <a:ext uri="{FF2B5EF4-FFF2-40B4-BE49-F238E27FC236}">
                <a16:creationId xmlns:a16="http://schemas.microsoft.com/office/drawing/2014/main" id="{FA51277A-4188-CF40-5920-F8AA345198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9:notes">
            <a:extLst>
              <a:ext uri="{FF2B5EF4-FFF2-40B4-BE49-F238E27FC236}">
                <a16:creationId xmlns:a16="http://schemas.microsoft.com/office/drawing/2014/main" id="{F82295DF-FC6A-26DA-43BB-FC88CD9D60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2911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85F5BE5E-FE96-25C3-5F81-7B2FFBE2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:notes">
            <a:extLst>
              <a:ext uri="{FF2B5EF4-FFF2-40B4-BE49-F238E27FC236}">
                <a16:creationId xmlns:a16="http://schemas.microsoft.com/office/drawing/2014/main" id="{003947AC-66C1-40A6-9738-4E0A196551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20:notes">
            <a:extLst>
              <a:ext uri="{FF2B5EF4-FFF2-40B4-BE49-F238E27FC236}">
                <a16:creationId xmlns:a16="http://schemas.microsoft.com/office/drawing/2014/main" id="{2CDD2072-A1E4-0BF1-BEAB-9E64345730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92304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5F683D79-9400-F7A0-AEC0-76310D5AE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:notes">
            <a:extLst>
              <a:ext uri="{FF2B5EF4-FFF2-40B4-BE49-F238E27FC236}">
                <a16:creationId xmlns:a16="http://schemas.microsoft.com/office/drawing/2014/main" id="{16FFE4B2-5D59-9D39-5ACB-DDCB6C685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20:notes">
            <a:extLst>
              <a:ext uri="{FF2B5EF4-FFF2-40B4-BE49-F238E27FC236}">
                <a16:creationId xmlns:a16="http://schemas.microsoft.com/office/drawing/2014/main" id="{B79FE908-FC43-FD99-92EC-79A8B4F54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2586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8300" y="685800"/>
            <a:ext cx="61229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subTitle" idx="1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1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3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body" idx="2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4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5"/>
          <p:cNvSpPr txBox="1">
            <a:spLocks noGrp="1"/>
          </p:cNvSpPr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1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>
            <a:spLocks noGrp="1"/>
          </p:cNvSpPr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7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7"/>
          <p:cNvSpPr txBox="1">
            <a:spLocks noGrp="1"/>
          </p:cNvSpPr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subTitle" idx="1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2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>
            <a:spLocks noGrp="1"/>
          </p:cNvSpPr>
          <p:nvPr>
            <p:ph type="title" hasCustomPrompt="1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9"/>
          <p:cNvSpPr txBox="1">
            <a:spLocks noGrp="1"/>
          </p:cNvSpPr>
          <p:nvPr>
            <p:ph type="body" idx="1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9"/>
          <p:cNvSpPr txBox="1">
            <a:spLocks noGrp="1"/>
          </p:cNvSpPr>
          <p:nvPr>
            <p:ph type="sldNum" idx="12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huggingface.co/spaces/krotkikhmaxim/Checkpoint3_team11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348858" y="3853497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Кротких Максим</a:t>
            </a:r>
            <a:endParaRPr sz="1600" b="0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Рябоконь Нина</a:t>
            </a:r>
            <a:endParaRPr sz="1600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 sz="1600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Шишова Вероника</a:t>
            </a:r>
            <a:endParaRPr sz="1600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9623" y="156412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48858" y="364111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ru" sz="3000" b="1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Кейс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ru" sz="3000" b="1" i="0" u="none" strike="noStrike" cap="none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Команда 11</a:t>
            </a:r>
            <a:endParaRPr sz="3000" b="1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3530" y="156412"/>
            <a:ext cx="5270740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0" y="104843"/>
            <a:ext cx="8999538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 dirty="0">
                <a:solidFill>
                  <a:srgbClr val="123194"/>
                </a:solidFill>
                <a:latin typeface="+mj-lt"/>
                <a:ea typeface="Montserrat"/>
                <a:cs typeface="Montserrat"/>
                <a:sym typeface="Montserrat"/>
              </a:rPr>
              <a:t>Задачи и роли в команде</a:t>
            </a:r>
            <a:endParaRPr sz="2800" b="1" i="0" u="none" strike="noStrike" cap="none" dirty="0">
              <a:solidFill>
                <a:srgbClr val="123194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0" y="879833"/>
            <a:ext cx="8999538" cy="1345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Кротких Максим – руководитель группы:</a:t>
            </a:r>
            <a:br>
              <a:rPr lang="ru-RU" sz="1600" b="1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</a:br>
            <a:r>
              <a:rPr lang="ru-RU" sz="16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Сборка финальных работ и презентации,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 dirty="0">
                <a:latin typeface="+mj-lt"/>
                <a:ea typeface="Montserrat"/>
                <a:cs typeface="Montserrat"/>
                <a:sym typeface="Montserrat"/>
              </a:rPr>
              <a:t>Координация работы команды,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+mj-lt"/>
                <a:ea typeface="Montserrat"/>
                <a:cs typeface="Montserrat"/>
                <a:sym typeface="Montserrat"/>
              </a:rPr>
              <a:t>Контроль анализа данных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600" dirty="0">
                <a:latin typeface="+mj-lt"/>
                <a:ea typeface="Montserrat"/>
                <a:cs typeface="Montserrat"/>
                <a:sym typeface="Montserrat"/>
              </a:rPr>
              <a:t>Проверка гипотез, создание дашборда</a:t>
            </a:r>
            <a:endParaRPr sz="1600" b="0" i="0" u="none" strike="noStrike" cap="none" dirty="0">
              <a:solidFill>
                <a:schemeClr val="dk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A03F7-9F58-B381-AA5E-9189F4FE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00" y="2719484"/>
            <a:ext cx="4390469" cy="2320829"/>
          </a:xfrm>
        </p:spPr>
        <p:txBody>
          <a:bodyPr/>
          <a:lstStyle/>
          <a:p>
            <a:pPr algn="ctr"/>
            <a:r>
              <a:rPr lang="ru-RU" sz="1600" b="1" dirty="0"/>
              <a:t>Рябоконь Нина – аналитик:</a:t>
            </a:r>
            <a:br>
              <a:rPr lang="ru-RU" sz="1600" b="1" dirty="0"/>
            </a:br>
            <a:r>
              <a:rPr lang="ru-RU" sz="1600" dirty="0"/>
              <a:t>Проведение анализа, </a:t>
            </a:r>
            <a:br>
              <a:rPr lang="ru-RU" sz="1600" dirty="0"/>
            </a:br>
            <a:r>
              <a:rPr lang="ru-RU" sz="1600" dirty="0"/>
              <a:t>Формирование выводов,</a:t>
            </a:r>
            <a:br>
              <a:rPr lang="ru-RU" sz="1600" dirty="0"/>
            </a:br>
            <a:r>
              <a:rPr lang="ru-RU" sz="1600" dirty="0"/>
              <a:t> Проверка гипотез,</a:t>
            </a:r>
            <a:br>
              <a:rPr lang="ru-RU" sz="1600" dirty="0"/>
            </a:br>
            <a:r>
              <a:rPr lang="ru-RU" sz="1600" dirty="0"/>
              <a:t>Создание дашборда</a:t>
            </a:r>
            <a:endParaRPr lang="ru-RU" sz="1600" b="1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89F1149-06F8-5102-5511-4FF96EDA94A8}"/>
              </a:ext>
            </a:extLst>
          </p:cNvPr>
          <p:cNvSpPr txBox="1">
            <a:spLocks/>
          </p:cNvSpPr>
          <p:nvPr/>
        </p:nvSpPr>
        <p:spPr>
          <a:xfrm>
            <a:off x="4308952" y="2719484"/>
            <a:ext cx="4515633" cy="2320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u-RU" sz="1600" b="1" dirty="0"/>
              <a:t>Шишова Вероника – аналитик:</a:t>
            </a:r>
          </a:p>
          <a:p>
            <a:pPr algn="ctr"/>
            <a:r>
              <a:rPr lang="ru-RU" sz="1600" dirty="0"/>
              <a:t>Проведение анализа, </a:t>
            </a:r>
            <a:br>
              <a:rPr lang="ru-RU" sz="1600" dirty="0"/>
            </a:br>
            <a:r>
              <a:rPr lang="ru-RU" sz="1600" dirty="0"/>
              <a:t>Формирование выводов,</a:t>
            </a:r>
            <a:br>
              <a:rPr lang="ru-RU" sz="1600" dirty="0"/>
            </a:br>
            <a:r>
              <a:rPr lang="ru-RU" sz="1600" dirty="0"/>
              <a:t> Проверка гипотез,</a:t>
            </a:r>
            <a:br>
              <a:rPr lang="ru-RU" sz="1600" dirty="0"/>
            </a:br>
            <a:r>
              <a:rPr lang="ru-RU" sz="1600" dirty="0"/>
              <a:t>Создание дашборда</a:t>
            </a:r>
          </a:p>
        </p:txBody>
      </p:sp>
      <p:pic>
        <p:nvPicPr>
          <p:cNvPr id="4" name="Google Shape;98;p22">
            <a:extLst>
              <a:ext uri="{FF2B5EF4-FFF2-40B4-BE49-F238E27FC236}">
                <a16:creationId xmlns:a16="http://schemas.microsoft.com/office/drawing/2014/main" id="{A4F06C43-7289-6166-F658-6893588EA7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4288" y="395871"/>
            <a:ext cx="1503056" cy="1156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9;p23">
            <a:extLst>
              <a:ext uri="{FF2B5EF4-FFF2-40B4-BE49-F238E27FC236}">
                <a16:creationId xmlns:a16="http://schemas.microsoft.com/office/drawing/2014/main" id="{3F70041D-B0F7-AD6D-39F8-8FC19ED4D4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690" y="879832"/>
            <a:ext cx="1641918" cy="183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/>
        </p:nvSpPr>
        <p:spPr>
          <a:xfrm>
            <a:off x="6279779" y="3550709"/>
            <a:ext cx="2073914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Основные статистические характеристики</a:t>
            </a:r>
            <a:endParaRPr sz="1200" b="0" i="0" u="none" strike="noStrike" cap="none" dirty="0">
              <a:solidFill>
                <a:srgbClr val="123194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9"/>
          <p:cNvSpPr txBox="1"/>
          <p:nvPr/>
        </p:nvSpPr>
        <p:spPr>
          <a:xfrm>
            <a:off x="-54864" y="112041"/>
            <a:ext cx="8999538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dirty="0">
                <a:solidFill>
                  <a:srgbClr val="123194"/>
                </a:solidFill>
                <a:latin typeface="+mj-lt"/>
                <a:ea typeface="Montserrat"/>
                <a:cs typeface="Montserrat"/>
                <a:sym typeface="Montserrat"/>
              </a:rPr>
              <a:t>Информация о данных</a:t>
            </a:r>
            <a:endParaRPr sz="2800" b="1" i="0" u="none" strike="noStrike" cap="none" dirty="0">
              <a:solidFill>
                <a:srgbClr val="123194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70;p9">
            <a:extLst>
              <a:ext uri="{FF2B5EF4-FFF2-40B4-BE49-F238E27FC236}">
                <a16:creationId xmlns:a16="http://schemas.microsoft.com/office/drawing/2014/main" id="{EF66E2A5-E6BD-F745-7C39-726E7030F52B}"/>
              </a:ext>
            </a:extLst>
          </p:cNvPr>
          <p:cNvSpPr txBox="1"/>
          <p:nvPr/>
        </p:nvSpPr>
        <p:spPr>
          <a:xfrm>
            <a:off x="188468" y="1024907"/>
            <a:ext cx="2073914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200" b="0" i="0" u="none" strike="noStrike" cap="none" dirty="0">
                <a:solidFill>
                  <a:schemeClr val="dk1"/>
                </a:solidFill>
                <a:latin typeface="+mj-lt"/>
                <a:ea typeface="Montserrat"/>
                <a:cs typeface="Montserrat"/>
                <a:sym typeface="Montserrat"/>
              </a:rPr>
              <a:t>Общий вид таблицы, описание столбцов</a:t>
            </a:r>
            <a:endParaRPr sz="1200" b="0" i="0" u="none" strike="noStrike" cap="none" dirty="0">
              <a:solidFill>
                <a:srgbClr val="123194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Рисунок 5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2D4478-AF79-89C9-06D0-BB74693C8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0" y="2944146"/>
            <a:ext cx="6020406" cy="1984126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76A795-B953-AB3F-017A-11606EEC5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840" y="628778"/>
            <a:ext cx="6543994" cy="2315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316A1C55-7B0E-1ACA-7D65-0F5DE9D1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>
            <a:extLst>
              <a:ext uri="{FF2B5EF4-FFF2-40B4-BE49-F238E27FC236}">
                <a16:creationId xmlns:a16="http://schemas.microsoft.com/office/drawing/2014/main" id="{09A2DC54-5099-0CA4-D1A3-023B360F1C60}"/>
              </a:ext>
            </a:extLst>
          </p:cNvPr>
          <p:cNvSpPr txBox="1"/>
          <p:nvPr/>
        </p:nvSpPr>
        <p:spPr>
          <a:xfrm>
            <a:off x="0" y="112041"/>
            <a:ext cx="8999538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dirty="0">
                <a:solidFill>
                  <a:srgbClr val="123194"/>
                </a:solidFill>
                <a:latin typeface="+mj-lt"/>
                <a:ea typeface="Montserrat"/>
                <a:cs typeface="Montserrat"/>
                <a:sym typeface="Montserrat"/>
              </a:rPr>
              <a:t>Информация о данных</a:t>
            </a:r>
            <a:endParaRPr sz="2800" b="1" i="0" u="none" strike="noStrike" cap="none" dirty="0">
              <a:solidFill>
                <a:srgbClr val="123194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40D186-D95D-7D7F-8049-B905C025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24" y="760821"/>
            <a:ext cx="4303776" cy="4225707"/>
          </a:xfrm>
        </p:spPr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</a:pP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Всего показов – 50 000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Всего установок – 1102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Всего– 7 стран,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7 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приложений, 30 аукционов, 20 операторов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Средняя стоимость показа: 0.013184 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Средняя оплата за установку: 0.617925 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Общая прибыль: 21.75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Лучшее время: Час: 20:00 (11.24%) День: </a:t>
            </a:r>
            <a:r>
              <a:rPr lang="ru-RU" sz="1200" dirty="0" err="1">
                <a:solidFill>
                  <a:schemeClr val="accent1">
                    <a:lumMod val="50000"/>
                  </a:schemeClr>
                </a:solidFill>
              </a:rPr>
              <a:t>Пт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 (9.44%) 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Худшее время: Час: 16:00 (6.02%) День: Сб (7.20%)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Распределение показов по возрастам: 18-25 лет: 10,701 (21.4%) 26-35 лет: 9,900 (19.8%) 36-45 лет: 9,878 (19.8%) 46-55 лет: 9,715 (19.4%) 55+ лет: 9,806 (19.6%)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Конверсия по возрастам: 18-25 лет: 8.31% 26-35 лет: 1.19% 36-45 лет: 0.50% 46-55 лет: 0.36% 55+ лет: 0.11%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7B9ECCF-27A1-63CB-F35C-42D44A1CA220}"/>
              </a:ext>
            </a:extLst>
          </p:cNvPr>
          <p:cNvSpPr txBox="1">
            <a:spLocks/>
          </p:cNvSpPr>
          <p:nvPr/>
        </p:nvSpPr>
        <p:spPr>
          <a:xfrm>
            <a:off x="4499768" y="702565"/>
            <a:ext cx="4369911" cy="428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>
                  <a:lumMod val="50000"/>
                </a:schemeClr>
              </a:buClr>
            </a:pP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ОБЩАЯ ПРИБЫЛЬНОСТЬ ПО ГРУППАМ: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18-25 лет: + 396.95 (маржа: 283.5%, ROI: 283.5%) 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26-35 лет: -48.35 (маржа: -36.9%, ROI: -36.9%) 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36-45 лет: -94.89 (маржа: -72.8%, ROI: -72.8%) 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46-55 лет: -110.21 (маржа: -85.5%, ROI: -85.5%) 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55+ лет: -121.75 (маржа: -94.5%, ROI: -94.5%)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endParaRPr lang="ru-RU" sz="12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50000"/>
                </a:schemeClr>
              </a:buClr>
            </a:pPr>
            <a:endParaRPr lang="ru-RU" sz="12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Топ 3 по прибыльности: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Страны: Австралия, Германия, Австрия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endParaRPr lang="ru-RU" sz="12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Аукционы: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28, 05, 00</a:t>
            </a:r>
            <a:endParaRPr lang="ru-RU" sz="12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50000"/>
                </a:schemeClr>
              </a:buClr>
            </a:pPr>
            <a:endParaRPr lang="ru-RU" sz="12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Clr>
                <a:schemeClr val="accent1">
                  <a:lumMod val="50000"/>
                </a:schemeClr>
              </a:buClr>
            </a:pP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Приложения: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game_2</a:t>
            </a:r>
            <a:r>
              <a:rPr lang="ru-RU" sz="1200" dirty="0">
                <a:solidFill>
                  <a:schemeClr val="accent1">
                    <a:lumMod val="50000"/>
                  </a:schemeClr>
                </a:solidFill>
              </a:rPr>
              <a:t>,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game_4, game_0</a:t>
            </a:r>
            <a:br>
              <a:rPr lang="ru-RU" sz="1200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ru-RU" sz="1400" dirty="0">
                <a:solidFill>
                  <a:schemeClr val="accent1">
                    <a:lumMod val="50000"/>
                  </a:schemeClr>
                </a:solidFill>
              </a:rPr>
            </a:br>
            <a:endParaRPr lang="ru-RU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09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/>
          <p:nvPr/>
        </p:nvSpPr>
        <p:spPr>
          <a:xfrm>
            <a:off x="26250" y="0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/>
          <p:nvPr/>
        </p:nvSpPr>
        <p:spPr>
          <a:xfrm>
            <a:off x="13125" y="123429"/>
            <a:ext cx="9000000" cy="7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Сформулированные гипотезы</a:t>
            </a:r>
            <a:endParaRPr sz="2800" b="1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20"/>
          <p:cNvSpPr txBox="1"/>
          <p:nvPr/>
        </p:nvSpPr>
        <p:spPr>
          <a:xfrm>
            <a:off x="0" y="711098"/>
            <a:ext cx="9013125" cy="86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■"/>
            </a:pPr>
            <a:r>
              <a:rPr lang="ru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Гипотеза 1: Конверсия в группе </a:t>
            </a:r>
            <a:r>
              <a:rPr lang="en-US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A</a:t>
            </a:r>
            <a:r>
              <a:rPr lang="ru-RU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(18-25 лет) статистически значимо выше, чем в группе </a:t>
            </a:r>
            <a:r>
              <a:rPr lang="en-US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B</a:t>
            </a:r>
            <a:r>
              <a:rPr lang="ru-RU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(26+ лет)</a:t>
            </a:r>
            <a:endParaRPr b="0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6984" y="2755723"/>
            <a:ext cx="2023175" cy="207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График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B88073-4796-B3B7-9F55-188FB254B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063" y="1141933"/>
            <a:ext cx="4645428" cy="2584234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F8F00C7-A8AD-D7C0-3EAC-302C9C7A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19" y="3821783"/>
            <a:ext cx="6075533" cy="561300"/>
          </a:xfrm>
        </p:spPr>
        <p:txBody>
          <a:bodyPr/>
          <a:lstStyle/>
          <a:p>
            <a:r>
              <a:rPr lang="ru-RU" sz="1400" dirty="0">
                <a:solidFill>
                  <a:schemeClr val="bg1"/>
                </a:solidFill>
              </a:rPr>
              <a:t>Гипотеза подтверждена. Конверсия в группе </a:t>
            </a:r>
            <a:r>
              <a:rPr lang="en-US" sz="1400" dirty="0">
                <a:solidFill>
                  <a:schemeClr val="bg1"/>
                </a:solidFill>
              </a:rPr>
              <a:t>A </a:t>
            </a:r>
            <a:r>
              <a:rPr lang="ru-RU" sz="1400" dirty="0">
                <a:solidFill>
                  <a:schemeClr val="bg1"/>
                </a:solidFill>
              </a:rPr>
              <a:t>статистически значимо выше. Разница: 0.0777 (в 15.3 раза выше). </a:t>
            </a:r>
            <a:r>
              <a:rPr lang="en-US" sz="1400" dirty="0">
                <a:solidFill>
                  <a:schemeClr val="bg1"/>
                </a:solidFill>
              </a:rPr>
              <a:t>T-</a:t>
            </a:r>
            <a:r>
              <a:rPr lang="ru-RU" sz="1400" dirty="0">
                <a:solidFill>
                  <a:schemeClr val="bg1"/>
                </a:solidFill>
              </a:rPr>
              <a:t>статистик = 21.9873. </a:t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P-value </a:t>
            </a:r>
            <a:r>
              <a:rPr lang="ru-RU" sz="1400" dirty="0">
                <a:solidFill>
                  <a:schemeClr val="bg1"/>
                </a:solidFill>
              </a:rPr>
              <a:t>= 0.0000000000.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AD922259-449E-B782-793D-1C1F5E6D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>
            <a:extLst>
              <a:ext uri="{FF2B5EF4-FFF2-40B4-BE49-F238E27FC236}">
                <a16:creationId xmlns:a16="http://schemas.microsoft.com/office/drawing/2014/main" id="{7CDCCCED-7E78-AB25-8582-F731D19B66F0}"/>
              </a:ext>
            </a:extLst>
          </p:cNvPr>
          <p:cNvSpPr/>
          <p:nvPr/>
        </p:nvSpPr>
        <p:spPr>
          <a:xfrm>
            <a:off x="13125" y="-9549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20">
            <a:extLst>
              <a:ext uri="{FF2B5EF4-FFF2-40B4-BE49-F238E27FC236}">
                <a16:creationId xmlns:a16="http://schemas.microsoft.com/office/drawing/2014/main" id="{0183CCCD-62D0-A312-FE4A-33A01D5AFB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0">
            <a:extLst>
              <a:ext uri="{FF2B5EF4-FFF2-40B4-BE49-F238E27FC236}">
                <a16:creationId xmlns:a16="http://schemas.microsoft.com/office/drawing/2014/main" id="{5FFEC984-58EA-0853-9D47-3D1C18103A1B}"/>
              </a:ext>
            </a:extLst>
          </p:cNvPr>
          <p:cNvSpPr txBox="1"/>
          <p:nvPr/>
        </p:nvSpPr>
        <p:spPr>
          <a:xfrm>
            <a:off x="13126" y="9862"/>
            <a:ext cx="8973288" cy="1093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■"/>
            </a:pPr>
            <a:endParaRPr lang="ru" sz="1600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■"/>
            </a:pPr>
            <a:r>
              <a:rPr lang="ru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Гипотеза 2: Конверсия в группе пользователей с низким </a:t>
            </a:r>
            <a:r>
              <a:rPr lang="en-US" dirty="0" err="1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user_quality_score</a:t>
            </a:r>
            <a:r>
              <a:rPr lang="en-US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 </a:t>
            </a:r>
            <a:r>
              <a:rPr lang="ru-RU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статистически значимо отличается от группы с высоким </a:t>
            </a:r>
            <a:r>
              <a:rPr lang="en-US" dirty="0" err="1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user_quality_score</a:t>
            </a:r>
            <a:endParaRPr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20">
            <a:extLst>
              <a:ext uri="{FF2B5EF4-FFF2-40B4-BE49-F238E27FC236}">
                <a16:creationId xmlns:a16="http://schemas.microsoft.com/office/drawing/2014/main" id="{0D70BA82-F302-3EFA-B927-C69B13652A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6984" y="2755723"/>
            <a:ext cx="2023175" cy="207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Граф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E4A428-F2C4-3870-72A2-D44C3D866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491" y="1006396"/>
            <a:ext cx="4690101" cy="2638916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2D20CD-6879-E161-2D76-1C702DD2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9" y="3759363"/>
            <a:ext cx="5959709" cy="733716"/>
          </a:xfrm>
        </p:spPr>
        <p:txBody>
          <a:bodyPr/>
          <a:lstStyle/>
          <a:p>
            <a:r>
              <a:rPr lang="ru-RU" sz="1400" dirty="0">
                <a:solidFill>
                  <a:schemeClr val="bg1"/>
                </a:solidFill>
              </a:rPr>
              <a:t>Гипотеза подтверждена, разница статистически значимая. Разница: 0.0330(в 5.9 раз). </a:t>
            </a:r>
            <a:r>
              <a:rPr lang="en-US" sz="1400" dirty="0">
                <a:solidFill>
                  <a:schemeClr val="bg1"/>
                </a:solidFill>
              </a:rPr>
              <a:t>Z-</a:t>
            </a:r>
            <a:r>
              <a:rPr lang="ru-RU" sz="1400" dirty="0">
                <a:solidFill>
                  <a:schemeClr val="bg1"/>
                </a:solidFill>
              </a:rPr>
              <a:t>тест: </a:t>
            </a:r>
            <a:r>
              <a:rPr lang="en-US" sz="1400" dirty="0">
                <a:solidFill>
                  <a:schemeClr val="bg1"/>
                </a:solidFill>
              </a:rPr>
              <a:t>Z =</a:t>
            </a:r>
            <a:r>
              <a:rPr lang="ru-RU" sz="1400" dirty="0">
                <a:solidFill>
                  <a:schemeClr val="bg1"/>
                </a:solidFill>
              </a:rPr>
              <a:t> 19.8276. </a:t>
            </a:r>
            <a:r>
              <a:rPr lang="en-US" sz="1400" dirty="0">
                <a:solidFill>
                  <a:schemeClr val="bg1"/>
                </a:solidFill>
              </a:rPr>
              <a:t>P-value</a:t>
            </a:r>
            <a:r>
              <a:rPr lang="ru-RU" sz="1400" dirty="0">
                <a:solidFill>
                  <a:schemeClr val="bg1"/>
                </a:solidFill>
              </a:rPr>
              <a:t>: 0.0000000000.</a:t>
            </a:r>
          </a:p>
        </p:txBody>
      </p:sp>
    </p:spTree>
    <p:extLst>
      <p:ext uri="{BB962C8B-B14F-4D97-AF65-F5344CB8AC3E}">
        <p14:creationId xmlns:p14="http://schemas.microsoft.com/office/powerpoint/2010/main" val="1848214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DF1A8659-7CBC-F817-8836-A7BDBD4B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>
            <a:extLst>
              <a:ext uri="{FF2B5EF4-FFF2-40B4-BE49-F238E27FC236}">
                <a16:creationId xmlns:a16="http://schemas.microsoft.com/office/drawing/2014/main" id="{B7175C8A-98C4-3625-2B3E-56E609673B1F}"/>
              </a:ext>
            </a:extLst>
          </p:cNvPr>
          <p:cNvSpPr/>
          <p:nvPr/>
        </p:nvSpPr>
        <p:spPr>
          <a:xfrm>
            <a:off x="13125" y="-9549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20">
            <a:extLst>
              <a:ext uri="{FF2B5EF4-FFF2-40B4-BE49-F238E27FC236}">
                <a16:creationId xmlns:a16="http://schemas.microsoft.com/office/drawing/2014/main" id="{A65F142E-9E16-9C31-E97A-D750E01AE0A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0">
            <a:extLst>
              <a:ext uri="{FF2B5EF4-FFF2-40B4-BE49-F238E27FC236}">
                <a16:creationId xmlns:a16="http://schemas.microsoft.com/office/drawing/2014/main" id="{A54BDFF6-48C9-5187-F632-6BC6EFED9553}"/>
              </a:ext>
            </a:extLst>
          </p:cNvPr>
          <p:cNvSpPr txBox="1"/>
          <p:nvPr/>
        </p:nvSpPr>
        <p:spPr>
          <a:xfrm>
            <a:off x="13126" y="9862"/>
            <a:ext cx="8986412" cy="953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Char char="■"/>
            </a:pPr>
            <a:endParaRPr lang="ru" sz="1600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  <a:p>
            <a:pPr marL="457200" indent="-355600">
              <a:lnSpc>
                <a:spcPct val="115000"/>
              </a:lnSpc>
              <a:buClr>
                <a:schemeClr val="lt1"/>
              </a:buClr>
              <a:buSzPts val="2000"/>
              <a:buFont typeface="Montserrat"/>
              <a:buChar char="■"/>
            </a:pPr>
            <a:r>
              <a:rPr lang="ru" dirty="0">
                <a:solidFill>
                  <a:schemeClr val="lt1"/>
                </a:solidFill>
                <a:latin typeface="+mj-lt"/>
                <a:ea typeface="Montserrat"/>
                <a:cs typeface="Montserrat"/>
                <a:sym typeface="Montserrat"/>
              </a:rPr>
              <a:t>Гипотеза 3: </a:t>
            </a:r>
            <a:r>
              <a:rPr lang="ru-RU" dirty="0">
                <a:solidFill>
                  <a:schemeClr val="bg1"/>
                </a:solidFill>
              </a:rPr>
              <a:t>Доля прибыли от топ-3 аукционов в группе 18-25 лет статистически значимо превышает 70% от общей прибыли группы</a:t>
            </a:r>
          </a:p>
          <a:p>
            <a:pPr marL="1016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endParaRPr sz="2000" b="0" i="0" u="none" strike="noStrike" cap="none" dirty="0">
              <a:solidFill>
                <a:schemeClr val="lt1"/>
              </a:solidFill>
              <a:latin typeface="+mj-l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20">
            <a:extLst>
              <a:ext uri="{FF2B5EF4-FFF2-40B4-BE49-F238E27FC236}">
                <a16:creationId xmlns:a16="http://schemas.microsoft.com/office/drawing/2014/main" id="{EF0ED7E3-CC71-A8DA-B641-711716D359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6984" y="2755723"/>
            <a:ext cx="2023175" cy="207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2C69A5-AF57-EF64-DC5D-0AA86078C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929" y="929643"/>
            <a:ext cx="4244444" cy="2697477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7E4EACF-1E25-FC7C-FBE4-90414A0F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19" y="3767485"/>
            <a:ext cx="5246477" cy="561300"/>
          </a:xfrm>
        </p:spPr>
        <p:txBody>
          <a:bodyPr/>
          <a:lstStyle/>
          <a:p>
            <a:r>
              <a:rPr lang="ru-RU" sz="1400" dirty="0">
                <a:solidFill>
                  <a:schemeClr val="bg1"/>
                </a:solidFill>
              </a:rPr>
              <a:t>Гипотеза отвергает, нет оснований считать, что доля</a:t>
            </a:r>
            <a:r>
              <a:rPr lang="en-US" sz="1400" dirty="0">
                <a:solidFill>
                  <a:schemeClr val="bg1"/>
                </a:solidFill>
              </a:rPr>
              <a:t> &gt; </a:t>
            </a:r>
            <a:r>
              <a:rPr lang="ru-RU" sz="1400" dirty="0">
                <a:solidFill>
                  <a:schemeClr val="bg1"/>
                </a:solidFill>
              </a:rPr>
              <a:t>70%</a:t>
            </a:r>
            <a:r>
              <a:rPr lang="en-US" sz="1400" dirty="0">
                <a:solidFill>
                  <a:schemeClr val="bg1"/>
                </a:solidFill>
              </a:rPr>
              <a:t>. Z-</a:t>
            </a:r>
            <a:r>
              <a:rPr lang="ru-RU" sz="1400" dirty="0">
                <a:solidFill>
                  <a:schemeClr val="bg1"/>
                </a:solidFill>
              </a:rPr>
              <a:t>статистика: -117.0144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r>
              <a:rPr lang="ru-RU" sz="14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P-value: 1.0000000000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373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3F605-4DB9-999C-B1B5-6857487DF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8224" y="0"/>
            <a:ext cx="8999538" cy="1176528"/>
          </a:xfrm>
        </p:spPr>
        <p:txBody>
          <a:bodyPr/>
          <a:lstStyle/>
          <a:p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Ссылка на дашборд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1994F6-7A8B-B31E-080B-160EC876A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6672" y="1743456"/>
            <a:ext cx="5138928" cy="451104"/>
          </a:xfrm>
        </p:spPr>
        <p:txBody>
          <a:bodyPr/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https://huggingface.co/spaces/krotkikhmaxim/Checkpoint3_team11</a:t>
            </a:r>
            <a:endParaRPr lang="ru-RU" sz="14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ru-RU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Google Shape;97;p22">
            <a:extLst>
              <a:ext uri="{FF2B5EF4-FFF2-40B4-BE49-F238E27FC236}">
                <a16:creationId xmlns:a16="http://schemas.microsoft.com/office/drawing/2014/main" id="{5C5C5D57-9A5C-B0CE-08B9-56D0A7D82E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9088" y="0"/>
            <a:ext cx="2505456" cy="4956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9506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EA275-A195-DB11-A2BB-47E3C115B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EF561F-4318-A664-007E-FA872CDC1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8224" y="0"/>
            <a:ext cx="8999538" cy="1176528"/>
          </a:xfrm>
        </p:spPr>
        <p:txBody>
          <a:bodyPr/>
          <a:lstStyle/>
          <a:p>
            <a:r>
              <a:rPr lang="ru-RU" sz="2800" dirty="0">
                <a:solidFill>
                  <a:schemeClr val="accent1">
                    <a:lumMod val="50000"/>
                  </a:schemeClr>
                </a:solidFill>
              </a:rPr>
              <a:t>Итоговые выводы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F25842-214E-9508-3899-AEA263AB1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9218" y="1469136"/>
            <a:ext cx="5380893" cy="294108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Модель работает некорректно, нужно переобучить.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Нужно перераспределить бюджет.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Так как молодежь(18-25 лет) прибыльнее, можно вкладывать больше денег для показа данной группе.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accent1">
                    <a:lumMod val="50000"/>
                  </a:schemeClr>
                </a:solidFill>
              </a:rPr>
              <a:t>Сейчас не стоит остальные возрастные группы скидывать полностью, сначала можно доработать модель и искать подходящих людей старше 26+ лет.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Google Shape;109;p23">
            <a:extLst>
              <a:ext uri="{FF2B5EF4-FFF2-40B4-BE49-F238E27FC236}">
                <a16:creationId xmlns:a16="http://schemas.microsoft.com/office/drawing/2014/main" id="{E01EEB07-CCEB-ED5C-E01D-981F86F16C2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4256" y="438209"/>
            <a:ext cx="1318612" cy="1355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4239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/>
        </p:nvSpPr>
        <p:spPr>
          <a:xfrm>
            <a:off x="348864" y="633388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ru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r>
              <a:rPr lang="ru" sz="4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ru" sz="4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" sz="4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за внимание!</a:t>
            </a:r>
            <a:endParaRPr sz="4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0888" y="906463"/>
            <a:ext cx="443865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601</Words>
  <Application>Microsoft Office PowerPoint</Application>
  <PresentationFormat>Произвольный</PresentationFormat>
  <Paragraphs>43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Montserrat</vt:lpstr>
      <vt:lpstr>Arial</vt:lpstr>
      <vt:lpstr>Simple Light</vt:lpstr>
      <vt:lpstr>Презентация PowerPoint</vt:lpstr>
      <vt:lpstr>Рябоконь Нина – аналитик: Проведение анализа,  Формирование выводов,  Проверка гипотез, Создание дашборда</vt:lpstr>
      <vt:lpstr>Презентация PowerPoint</vt:lpstr>
      <vt:lpstr>Всего показов – 50 000 Всего установок – 1102 Всего– 7 стран, 7 приложений, 30 аукционов, 20 операторов   Средняя стоимость показа: 0.013184  Средняя оплата за установку: 0.617925  Общая прибыль: 21.75   Лучшее время: Час: 20:00 (11.24%) День: Пт (9.44%)  Худшее время: Час: 16:00 (6.02%) День: Сб (7.20%)   Распределение показов по возрастам: 18-25 лет: 10,701 (21.4%) 26-35 лет: 9,900 (19.8%) 36-45 лет: 9,878 (19.8%) 46-55 лет: 9,715 (19.4%) 55+ лет: 9,806 (19.6%)   Конверсия по возрастам: 18-25 лет: 8.31% 26-35 лет: 1.19% 36-45 лет: 0.50% 46-55 лет: 0.36% 55+ лет: 0.11%</vt:lpstr>
      <vt:lpstr>Гипотеза подтверждена. Конверсия в группе A статистически значимо выше. Разница: 0.0777 (в 15.3 раза выше). T-статистик = 21.9873.  P-value = 0.0000000000.</vt:lpstr>
      <vt:lpstr>Гипотеза подтверждена, разница статистически значимая. Разница: 0.0330(в 5.9 раз). Z-тест: Z = 19.8276. P-value: 0.0000000000.</vt:lpstr>
      <vt:lpstr>Гипотеза отвергает, нет оснований считать, что доля &gt; 70%. Z-статистика: -117.0144. P-value: 1.0000000000</vt:lpstr>
      <vt:lpstr>Ссылка на дашборд</vt:lpstr>
      <vt:lpstr>Итоговые 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 Mem</dc:creator>
  <cp:lastModifiedBy>Ver Mem</cp:lastModifiedBy>
  <cp:revision>44</cp:revision>
  <dcterms:modified xsi:type="dcterms:W3CDTF">2025-12-23T17:15:33Z</dcterms:modified>
</cp:coreProperties>
</file>